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4F0854-4E1F-2657-60DA-3204AB8E083D}" v="8" dt="2025-12-17T16:17:52.925"/>
    <p1510:client id="{42A4AC11-0494-F2F3-C621-5CA6D5FC2F51}" v="1408" dt="2025-12-17T16:18:49.454"/>
    <p1510:client id="{5A8C3C19-A3AC-C798-093A-952C10DE7F0A}" v="6" dt="2025-12-17T14:49:34.567"/>
    <p1510:client id="{9BD0F54B-CAF0-C8D2-B6E0-DB9E1FE8B583}" v="61" dt="2025-12-18T08:18:54.714"/>
    <p1510:client id="{AF3FF04D-1D4A-3692-5A6C-A8B218B4578D}" v="230" dt="2025-12-17T15:59:02.906"/>
    <p1510:client id="{D0316077-9198-BE8F-ACE9-03F165CB2B33}" v="474" dt="2025-12-17T16:18:26.822"/>
    <p1510:client id="{E280F42E-01F2-28A7-92FF-F5FF324AF178}" v="515" dt="2025-12-17T16:02:59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18.12.2025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2244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18.12.2025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187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18.12.2025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2577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18.12.2025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6837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18.12.2025</a:t>
            </a:fld>
            <a:endParaRPr lang="fi-FI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3436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18.12.2025</a:t>
            </a:fld>
            <a:endParaRPr lang="fi-FI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3876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18.12.2025</a:t>
            </a:fld>
            <a:endParaRPr lang="fi-FI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8361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18.12.2025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2707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18.12.2025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39981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18.12.2025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1203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18.12.2025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06455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ABAE3-D89C-4001-9AEC-5083F82B749C}" type="datetimeFigureOut">
              <a:rPr lang="fi-FI" smtClean="0"/>
              <a:t>18.12.2025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34520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B2AE301-8298-47C2-81FA-781BA50D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8DBE596-692C-4777-8933-9D5BB8533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9C38783D-8606-4709-8C6F-69DE0EF816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665A2D8C-561A-4347-88E9-4D84CF7CA9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7CB8EFE-31DC-44A2-A07E-FD84E8DA3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B6473FEC-46FF-4C7E-85BA-344E0365CA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8C875950-A52D-453F-A602-3E58AD414E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099175" y="1354819"/>
            <a:ext cx="5240881" cy="241101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5600">
                <a:solidFill>
                  <a:schemeClr val="bg1"/>
                </a:solidFill>
              </a:rPr>
              <a:t>Group 15 </a:t>
            </a:r>
            <a:br>
              <a:rPr lang="en-US" sz="5600">
                <a:solidFill>
                  <a:schemeClr val="bg1"/>
                </a:solidFill>
              </a:rPr>
            </a:br>
            <a:r>
              <a:rPr lang="en-US" sz="5600">
                <a:solidFill>
                  <a:schemeClr val="bg1"/>
                </a:solidFill>
              </a:rPr>
              <a:t>Web app project</a:t>
            </a:r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4303059" y="4146832"/>
            <a:ext cx="5290204" cy="17747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Lauri-Kalle </a:t>
            </a:r>
            <a:r>
              <a:rPr lang="en-US" sz="1600" err="1">
                <a:solidFill>
                  <a:schemeClr val="bg1"/>
                </a:solidFill>
              </a:rPr>
              <a:t>Palola</a:t>
            </a:r>
            <a:endParaRPr lang="en-US" sz="160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Nikolas Sederholm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Roni Pursiainen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Simo Vares</a:t>
            </a:r>
            <a:br>
              <a:rPr lang="en-US" sz="1600"/>
            </a:br>
            <a:br>
              <a:rPr lang="en-US" sz="1600"/>
            </a:br>
            <a:endParaRPr lang="en-US" sz="600">
              <a:solidFill>
                <a:schemeClr val="bg1"/>
              </a:solidFill>
            </a:endParaRPr>
          </a:p>
        </p:txBody>
      </p:sp>
      <p:pic>
        <p:nvPicPr>
          <p:cNvPr id="47" name="Graphic 46" descr="Laptop">
            <a:extLst>
              <a:ext uri="{FF2B5EF4-FFF2-40B4-BE49-F238E27FC236}">
                <a16:creationId xmlns:a16="http://schemas.microsoft.com/office/drawing/2014/main" id="{656521DE-B7EC-9CF0-4B98-CF2DC6C37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024" y="1429488"/>
            <a:ext cx="3287655" cy="328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85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84C4E1F-593B-04A2-9F17-1300D281C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Roles</a:t>
            </a:r>
          </a:p>
        </p:txBody>
      </p:sp>
      <p:graphicFrame>
        <p:nvGraphicFramePr>
          <p:cNvPr id="4" name="Sisällön paikkamerkki 3">
            <a:extLst>
              <a:ext uri="{FF2B5EF4-FFF2-40B4-BE49-F238E27FC236}">
                <a16:creationId xmlns:a16="http://schemas.microsoft.com/office/drawing/2014/main" id="{064A16A7-22F7-F263-77B0-8A27F905DF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458690"/>
              </p:ext>
            </p:extLst>
          </p:nvPr>
        </p:nvGraphicFramePr>
        <p:xfrm>
          <a:off x="1988634" y="1821365"/>
          <a:ext cx="8219438" cy="1854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5298">
                  <a:extLst>
                    <a:ext uri="{9D8B030D-6E8A-4147-A177-3AD203B41FA5}">
                      <a16:colId xmlns:a16="http://schemas.microsoft.com/office/drawing/2014/main" val="2414120438"/>
                    </a:ext>
                  </a:extLst>
                </a:gridCol>
                <a:gridCol w="2742070">
                  <a:extLst>
                    <a:ext uri="{9D8B030D-6E8A-4147-A177-3AD203B41FA5}">
                      <a16:colId xmlns:a16="http://schemas.microsoft.com/office/drawing/2014/main" val="3272002764"/>
                    </a:ext>
                  </a:extLst>
                </a:gridCol>
                <a:gridCol w="2742070">
                  <a:extLst>
                    <a:ext uri="{9D8B030D-6E8A-4147-A177-3AD203B41FA5}">
                      <a16:colId xmlns:a16="http://schemas.microsoft.com/office/drawing/2014/main" val="29498442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err="1"/>
                        <a:t>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err="1"/>
                        <a:t>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046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i-FI"/>
                        <a:t>Lauri-Kalle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err="1"/>
                        <a:t>Scrum</a:t>
                      </a:r>
                      <a:r>
                        <a:rPr lang="fi-FI"/>
                        <a:t> </a:t>
                      </a:r>
                      <a:r>
                        <a:rPr lang="fi-FI" err="1"/>
                        <a:t>master</a:t>
                      </a:r>
                      <a:r>
                        <a:rPr lang="fi-FI"/>
                        <a:t>, </a:t>
                      </a:r>
                      <a:r>
                        <a:rPr lang="fi-FI" err="1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41,5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24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i-FI"/>
                        <a:t>Roni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err="1"/>
                        <a:t>Frontend</a:t>
                      </a:r>
                      <a:r>
                        <a:rPr lang="fi-FI"/>
                        <a:t>, </a:t>
                      </a:r>
                      <a:r>
                        <a:rPr lang="fi-FI" err="1"/>
                        <a:t>backend</a:t>
                      </a:r>
                      <a:r>
                        <a:rPr lang="fi-FI"/>
                        <a:t> </a:t>
                      </a:r>
                      <a:r>
                        <a:rPr lang="fi-FI" err="1"/>
                        <a:t>fixer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/>
                        <a:t>52,5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331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i-FI" err="1"/>
                        <a:t>Nikolas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err="1"/>
                        <a:t>Frontend</a:t>
                      </a:r>
                      <a:r>
                        <a:rPr lang="fi-FI"/>
                        <a:t>, </a:t>
                      </a:r>
                      <a:r>
                        <a:rPr lang="fi-FI" err="1"/>
                        <a:t>style</a:t>
                      </a:r>
                      <a:r>
                        <a:rPr lang="fi-FI"/>
                        <a:t> </a:t>
                      </a:r>
                      <a:r>
                        <a:rPr lang="fi-FI" err="1"/>
                        <a:t>fixer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67835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/>
                        <a:t>Simo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err="1"/>
                        <a:t>Frontend</a:t>
                      </a:r>
                      <a:r>
                        <a:rPr lang="fi-FI"/>
                        <a:t>, backend, TMDB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i-FI" sz="1800" b="0" i="0" u="none" strike="noStrike" noProof="0">
                          <a:latin typeface="Aptos"/>
                        </a:rPr>
                        <a:t>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12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527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8D5CFF67-9F74-F721-B3FF-2F0C9A5A61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0156324"/>
              </p:ext>
            </p:extLst>
          </p:nvPr>
        </p:nvGraphicFramePr>
        <p:xfrm>
          <a:off x="1166149" y="-7033"/>
          <a:ext cx="3547342" cy="6868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031">
                  <a:extLst>
                    <a:ext uri="{9D8B030D-6E8A-4147-A177-3AD203B41FA5}">
                      <a16:colId xmlns:a16="http://schemas.microsoft.com/office/drawing/2014/main" val="53180157"/>
                    </a:ext>
                  </a:extLst>
                </a:gridCol>
                <a:gridCol w="1630366">
                  <a:extLst>
                    <a:ext uri="{9D8B030D-6E8A-4147-A177-3AD203B41FA5}">
                      <a16:colId xmlns:a16="http://schemas.microsoft.com/office/drawing/2014/main" val="4294570075"/>
                    </a:ext>
                  </a:extLst>
                </a:gridCol>
                <a:gridCol w="855945">
                  <a:extLst>
                    <a:ext uri="{9D8B030D-6E8A-4147-A177-3AD203B41FA5}">
                      <a16:colId xmlns:a16="http://schemas.microsoft.com/office/drawing/2014/main" val="553212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Done or not?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44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Responsiveness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15946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Registration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88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Logging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796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Deleting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04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027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Now in theaters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804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r>
                        <a:rPr lang="en-US" sz="1800" b="1" i="0" u="none" strike="noStrike" noProof="0" dirty="0">
                          <a:solidFill>
                            <a:srgbClr val="FF0000"/>
                          </a:solidFill>
                          <a:latin typeface="Aptos"/>
                        </a:rPr>
                        <a:t>x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Group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54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Adding a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39814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Removing a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455474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FF0000"/>
                          </a:solidFill>
                          <a:latin typeface="Aptos"/>
                        </a:rPr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Customizing group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4735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Movie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0542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Browsing 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937795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 err="1"/>
                        <a:t>Favourites</a:t>
                      </a:r>
                      <a:r>
                        <a:rPr lang="en-US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41933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Sharing </a:t>
                      </a:r>
                      <a:r>
                        <a:rPr lang="en-US" sz="1400" dirty="0" err="1"/>
                        <a:t>favourites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13672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Optional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2433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Site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869430"/>
                  </a:ext>
                </a:extLst>
              </a:tr>
            </a:tbl>
          </a:graphicData>
        </a:graphic>
      </p:graphicFrame>
      <p:graphicFrame>
        <p:nvGraphicFramePr>
          <p:cNvPr id="2" name="Taulukko 1">
            <a:extLst>
              <a:ext uri="{FF2B5EF4-FFF2-40B4-BE49-F238E27FC236}">
                <a16:creationId xmlns:a16="http://schemas.microsoft.com/office/drawing/2014/main" id="{5D677B3C-2668-5D19-E1CA-6CE572D4E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931763"/>
              </p:ext>
            </p:extLst>
          </p:nvPr>
        </p:nvGraphicFramePr>
        <p:xfrm>
          <a:off x="7201829" y="-9293"/>
          <a:ext cx="3596637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437">
                  <a:extLst>
                    <a:ext uri="{9D8B030D-6E8A-4147-A177-3AD203B41FA5}">
                      <a16:colId xmlns:a16="http://schemas.microsoft.com/office/drawing/2014/main" val="1019951863"/>
                    </a:ext>
                  </a:extLst>
                </a:gridCol>
                <a:gridCol w="1635760">
                  <a:extLst>
                    <a:ext uri="{9D8B030D-6E8A-4147-A177-3AD203B41FA5}">
                      <a16:colId xmlns:a16="http://schemas.microsoft.com/office/drawing/2014/main" val="156520623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4273586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i-FI" err="1"/>
                        <a:t>Done</a:t>
                      </a:r>
                      <a:r>
                        <a:rPr lang="fi-FI"/>
                        <a:t> </a:t>
                      </a:r>
                      <a:r>
                        <a:rPr lang="fi-FI" err="1"/>
                        <a:t>or</a:t>
                      </a:r>
                      <a:r>
                        <a:rPr lang="fi-FI"/>
                        <a:t>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/>
                        <a:t>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58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fi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400"/>
                        <a:t>Class diagram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33073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fi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400" b="0" i="0" u="none" strike="noStrike" noProof="0">
                          <a:solidFill>
                            <a:srgbClr val="1F1F1F"/>
                          </a:solidFill>
                          <a:latin typeface="Aptos"/>
                        </a:rPr>
                        <a:t>User </a:t>
                      </a:r>
                      <a:r>
                        <a:rPr lang="en" sz="14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interface</a:t>
                      </a:r>
                      <a:r>
                        <a:rPr lang="en" sz="1400" b="0" i="0" u="none" strike="noStrike" noProof="0">
                          <a:solidFill>
                            <a:srgbClr val="1F1F1F"/>
                          </a:solidFill>
                          <a:latin typeface="Aptos"/>
                        </a:rPr>
                        <a:t>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64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fi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400"/>
                        <a:t>REST-documentation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21107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fi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400"/>
                        <a:t>Development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38657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fi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400"/>
                        <a:t>Version </a:t>
                      </a:r>
                      <a:r>
                        <a:rPr lang="fi-FI" sz="1400" err="1"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44900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172B3A-F023-7D1A-AE74-88ADA87C9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364518"/>
              </p:ext>
            </p:extLst>
          </p:nvPr>
        </p:nvGraphicFramePr>
        <p:xfrm>
          <a:off x="7192538" y="4153828"/>
          <a:ext cx="3606793" cy="2702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120">
                  <a:extLst>
                    <a:ext uri="{9D8B030D-6E8A-4147-A177-3AD203B41FA5}">
                      <a16:colId xmlns:a16="http://schemas.microsoft.com/office/drawing/2014/main" val="4118945860"/>
                    </a:ext>
                  </a:extLst>
                </a:gridCol>
                <a:gridCol w="1635760">
                  <a:extLst>
                    <a:ext uri="{9D8B030D-6E8A-4147-A177-3AD203B41FA5}">
                      <a16:colId xmlns:a16="http://schemas.microsoft.com/office/drawing/2014/main" val="322133551"/>
                    </a:ext>
                  </a:extLst>
                </a:gridCol>
                <a:gridCol w="883913">
                  <a:extLst>
                    <a:ext uri="{9D8B030D-6E8A-4147-A177-3AD203B41FA5}">
                      <a16:colId xmlns:a16="http://schemas.microsoft.com/office/drawing/2014/main" val="2142142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Done or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Feature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3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100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Sign</a:t>
                      </a:r>
                      <a:r>
                        <a:rPr lang="en-US"/>
                        <a:t> </a:t>
                      </a:r>
                      <a:r>
                        <a:rPr lang="en-US" sz="140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90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Registration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722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Deleting an</a:t>
                      </a:r>
                      <a:r>
                        <a:rPr lang="en-US"/>
                        <a:t> </a:t>
                      </a:r>
                      <a:r>
                        <a:rPr lang="en-US" sz="1400"/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30105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accent6"/>
                          </a:solidFill>
                          <a:latin typeface="Aptos"/>
                        </a:rPr>
                        <a:t>✓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Browsing 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326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651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Office-teema</vt:lpstr>
      <vt:lpstr>Group 15  Web app project</vt:lpstr>
      <vt:lpstr>Roles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</cp:revision>
  <dcterms:created xsi:type="dcterms:W3CDTF">2025-12-17T14:38:58Z</dcterms:created>
  <dcterms:modified xsi:type="dcterms:W3CDTF">2025-12-18T08:20:17Z</dcterms:modified>
</cp:coreProperties>
</file>